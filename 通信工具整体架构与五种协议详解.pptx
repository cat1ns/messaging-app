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84B78"/>
                </a:solidFill>
                <a:latin typeface="Microsoft YaHei"/>
              </a:rPr>
              <a:t>通信工具整体架构与五种协议详解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5B6C7A"/>
                </a:solidFill>
                <a:latin typeface="Microsoft YaHei"/>
              </a:rPr>
              <a:t>客户端 DataSendServer × 服务端 DataReceiveServer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3657600"/>
            <a:ext cx="33375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730752"/>
            <a:ext cx="31546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项目结构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50791"/>
            <a:ext cx="31546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两个Qt GUI程序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657600"/>
            <a:ext cx="33375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3730752"/>
            <a:ext cx="31546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通信角色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050791"/>
            <a:ext cx="31546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主动发起 / 监听接收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657600"/>
            <a:ext cx="33375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730752"/>
            <a:ext cx="31546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协议范围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050791"/>
            <a:ext cx="31546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UDP、TCP、HTTP、WebSocket、Modbus TCP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目录与阅读方法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先理解架构，再理解协议，再追一帧数据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07040" cy="932688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07592"/>
            <a:ext cx="10424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第一部分｜项目结构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424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客户端、服务端、对象分层和总流程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07040" cy="932688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10424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第二部分｜协议对应关系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53512"/>
            <a:ext cx="10424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五种协议发送/接收对象、Qt技术点、连接模型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10607040" cy="932688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2"/>
            <a:ext cx="10424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第三部分｜数据传输详解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10424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每种协议的格式、生成、解析、响应和异常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77C27"/>
                </a:solidFill>
                <a:latin typeface="Microsoft YaHei"/>
              </a:rPr>
              <a:t>阅读原则：每种协议都按“发送端 → 网络格式 → 接收端解析 → 响应回流”展开。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第一部分：项目目录与职责分层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当前仓库的两个独立Qt工程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49240" cy="356616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516635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DataSendServer（客户端/主动发起方）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51663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DataSendServer.cpp/.h：界面、协议路由、QTimer、结果展示
UDPSendServer：UDP发送和回复接收
TCPSendServer：TCP连接、发送、回复读取
HTTPSendServer：HTTP POST和响应
WSSendServer：WebSocket连接和文本消息
ModbusTcpClient：MBAP/PDU和寄存器请求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5349240" cy="356616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79" y="1216152"/>
            <a:ext cx="516635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DataReceiveServer（服务端/监听方）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1536192"/>
            <a:ext cx="51663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DataReceiveServer.cpp/.h：监听路由、接收展示、回复分派
UDPRecvServer：UDP绑定、数据报接收、回发
TCPRecvServer：TCP监听、多连接、字节流
HTTPRecvServer：HTTP body解析和响应
WSRecvServer：WebSocket客户端连接和文本消息
ModbusTcpServer：MBAP切帧、0x03/0x10、寄存器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4B78"/>
                </a:solidFill>
                <a:latin typeface="Microsoft YaHei"/>
              </a:rPr>
              <a:t>共同分层：UI协调层 → 协议适配层 → Qt网络对象 → TCP/UDP/IP网络。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客户端—服务端总通信流程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普通协议和Modbus均遵循同一主线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客户端UI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选择协议、目标、消息/寄存器参数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主窗口调度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按钮或QTimer触发，if/else路由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协议对象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生成对应格式并调用Qt网络API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网络传输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Socket/HTTP/WebSocket传输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服务端对象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监听、接收、解析、执行业务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240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78440" y="1874519"/>
            <a:ext cx="173736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1947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响应回流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22677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协议响应→客户端对象→UI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10607040" cy="10515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客户端“发送”和服务端“接收”是一次网络事务的两端；服务端回复后，客户端的readyRead/finished/textMessageReceived等事件触发响应解析。Modbus中服务端寄存器读写属于业务执行，TCP只是传输字节。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第二部分：五种协议对象对应关系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4B78"/>
                </a:solidFill>
                <a:latin typeface="Microsoft YaHei"/>
              </a:rPr>
              <a:t>UDP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005840"/>
            <a:ext cx="20574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4B78"/>
                </a:solidFill>
                <a:latin typeface="Microsoft YaHei"/>
              </a:rPr>
              <a:t>UDPSendServer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005840"/>
            <a:ext cx="260604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4B78"/>
                </a:solidFill>
                <a:latin typeface="Microsoft YaHei"/>
              </a:rPr>
              <a:t>UDPRecvServer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005840"/>
            <a:ext cx="23317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4B78"/>
                </a:solidFill>
                <a:latin typeface="Microsoft YaHei"/>
              </a:rPr>
              <a:t>QUdpSocket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005840"/>
            <a:ext cx="25603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4B78"/>
                </a:solidFill>
                <a:latin typeface="Microsoft YaHei"/>
              </a:rPr>
              <a:t>数据报、无连接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09344"/>
            <a:ext cx="20574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TCPSendServer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09344"/>
            <a:ext cx="260604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TCPRecvServer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09344"/>
            <a:ext cx="23317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QTcpSocket/QTcpServer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609344"/>
            <a:ext cx="25603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可靠字节流、长连接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12848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212848"/>
            <a:ext cx="20574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HTTPSendServer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212848"/>
            <a:ext cx="260604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HTTPRecvServer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12848"/>
            <a:ext cx="23317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QNetworkAccessManager/QTcpServer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12848"/>
            <a:ext cx="25603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请求—响应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16352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816352"/>
            <a:ext cx="20574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WSSendServer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816352"/>
            <a:ext cx="260604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WSRecvServer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16352"/>
            <a:ext cx="23317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QWebSocket/QWebSocketServer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16352"/>
            <a:ext cx="25603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握手后全双工消息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419856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Modbus TCP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419856"/>
            <a:ext cx="20574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ModbusTcpClient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419856"/>
            <a:ext cx="260604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ModbusTcpServer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419856"/>
            <a:ext cx="23317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QTcpSocket/QTcpServer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19856"/>
            <a:ext cx="256032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7"/>
                </a:solidFill>
                <a:latin typeface="Microsoft YaHei"/>
              </a:rPr>
              <a:t>TCP承载工业PDU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7C27"/>
                </a:solidFill>
                <a:latin typeface="Microsoft YaHei"/>
              </a:rPr>
              <a:t>技术共同点：Qt信号槽驱动事件；差异点：连接是否存在、数据是否有边界、谁先发起、响应是否必须对应请求。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协议执行流程统一模板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后续每种协议均按此模板理解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075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1.发送端生成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276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界面数据转换为协议报文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2344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3075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2.底层发送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6276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调用Qt网络类write/post/open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3075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3.接收端触发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6276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readyRead/newConnection/finished/消息信号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2918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3649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4.接收端解析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85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按协议格式拆字段、转数据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2918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33649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5.业务执行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3685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显示、回复或读写设备数据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291840"/>
            <a:ext cx="320040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364992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6.响应回流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85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响应报文→发送端解析→UI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6C7A"/>
                </a:solidFill>
                <a:latin typeface="Microsoft YaHei"/>
              </a:rPr>
              <a:t>协议详解的核心不是只看send函数，而是同时追踪发送格式、接收解析和响应生成。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7、UDP：发送—解析—响应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数据报有边界；无连接；不保证到达、顺序和去重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发送端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QString→UTF-8→writeDatagram(data, IP, port)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传输格式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IP/UDP头由系统构造；应用区=正文数据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readyRead→hasPendingDatagrams→readDatagram(buffer, senderIp, senderPort)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051560"/>
            <a:ext cx="23774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247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1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保存最后来源；writeDatagram(reply, senderIp, senderPort)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0698480" cy="12801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技术要点：数据报有边界；无连接；不保证到达、顺序和去重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8、TCP：发送—解析—响应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可靠、有序、全双工；需自行处理粘包拆包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发送端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connectToHost→write(QByteArray)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传输格式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TCP字节流；没有应用层边界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newConnection→QTcpSocket→readyRead→readAll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051560"/>
            <a:ext cx="23774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247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1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同一连接write；当前普通TCP回复最后发送socket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0698480" cy="12801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技术要点：可靠、有序、全双工；需自行处理粘包拆包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9、HTTP：发送—解析—响应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请求—响应；QNetworkReply::finished；当前服务端为轻量解析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发送端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QNetworkRequest→QNetworkAccessManager::post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传输格式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请求行+请求头+空行+body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QTcpServer→readyRead→readAll→parseHttpBody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051560"/>
            <a:ext cx="23774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247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1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HTTP/1.1 200 + headers + body；Connection: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0698480" cy="12801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技术要点：请求—响应；QNetworkReply::finished；当前服务端为轻量解析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10、WebSocket：发送—解析—响应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长连接、全双工、文本消息；适合实时推送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发送端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open(ws://)→connected→sendTextMessage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传输格式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先HTTP Upgrade，成功后传输消息帧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newConnection→textMessageReceived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051560"/>
            <a:ext cx="23774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247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1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sendTextMessage；客户端textMessageReceived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0698480" cy="12801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技术要点：长连接、全双工、文本消息；适合实时推送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11、Modbus TCP：发送—解析—响应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>TCP传输；寄存器地址、数量、值、异常码有严格定义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发送端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界面模式→READ/WRITE→MBAP+PDU→QTcpSocket::write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传输格式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MBAP(7字节)+PDU；0x03读、0x10写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51560"/>
            <a:ext cx="26060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2471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44751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readyRead→Length切帧→frame[7]功能码→processRequest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051560"/>
            <a:ext cx="237744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1247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444751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标准0x03数据响应或0x10确认响应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0698480" cy="12801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技术要点：TCP传输；寄存器地址、数量、值、异常码有严格定义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十二、UDP数据格式与生成解析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4B78"/>
                </a:solidFill>
                <a:latin typeface="Microsoft YaHei"/>
              </a:rPr>
              <a:t>发送生成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303520" cy="20574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Microsoft YaHei"/>
              </a:rPr>
              <a:t>data.toUtf8()
    ↓
QByteArray sendData
    ↓
writeDatagram(sendData, targetIp, targetPort)
应用层不额外组合报文头；目标地址交给QUdpSocket。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8F6F"/>
                </a:solidFill>
                <a:latin typeface="Microsoft YaHei"/>
              </a:rPr>
              <a:t>接收解析与回复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20574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7"/>
                </a:solidFill>
                <a:latin typeface="Microsoft YaHei"/>
              </a:rPr>
              <a:t>readyRead
→ pendingDatagramSize
→ readDatagram(buffer, senderIp, senderPort)
→ UTF-8解码
→ sigDataReceived
回复：writeDatagram(reply, senderIp, senderPort)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07040" cy="9144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7C27"/>
                </a:solidFill>
                <a:latin typeface="Microsoft YaHei"/>
              </a:rPr>
              <a:t>UDP一次读取通常对应一个完整数据报，因此不需要像TCP那样根据Length切帧；但需要处理丢包、重复和来源变化。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十三、TCP数据格式与生成解析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4B78"/>
                </a:solidFill>
                <a:latin typeface="Microsoft YaHei"/>
              </a:rPr>
              <a:t>发送端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303520" cy="20116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37"/>
                </a:solidFill>
                <a:latin typeface="Microsoft YaHei"/>
              </a:rPr>
              <a:t>connectToHost(IP, port)
→ QString.toUtf8()
→ QTcpSocket::write(bytes)
→ waitForBytesWritten
当前普通TCP：正文直接发送，没有自定义长度头。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60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8F6F"/>
                </a:solidFill>
                <a:latin typeface="Microsoft YaHei"/>
              </a:rPr>
              <a:t>接收端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20116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7"/>
                </a:solidFill>
                <a:latin typeface="Microsoft YaHei"/>
              </a:rPr>
              <a:t>newConnection取得QTcpSocket
→ readyRead
→ readAll()
→ QString::fromUtf8
→ sigDataReceived
回复：m_lastSenderSocket-&gt;write(replyData)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07040" cy="9144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7C27"/>
                </a:solidFill>
                <a:latin typeface="Microsoft YaHei"/>
              </a:rPr>
              <a:t>TCP报文边界由应用自己定义。普通TCP类当前无法判断一条完整业务消息；ModbusTcpServer使用MBAP Length完成可靠切帧。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十四、HTTP数据格式、body解析与响应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4B78"/>
                </a:solidFill>
                <a:latin typeface="Microsoft YaHei"/>
              </a:rPr>
              <a:t>客户端生成HTTP请求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49240" cy="22402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7"/>
                </a:solidFill>
                <a:latin typeface="Microsoft YaHei"/>
              </a:rPr>
              <a:t>POST / HTTP/1.1
Host: IP:Port
Content-Type: text/plain; charset=utf-8
Content-Length: N
UTF-8正文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8F6F"/>
                </a:solidFill>
                <a:latin typeface="Microsoft YaHei"/>
              </a:rPr>
              <a:t>服务端解析和生成响应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49240" cy="22402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A37"/>
                </a:solidFill>
                <a:latin typeface="Microsoft YaHei"/>
              </a:rPr>
              <a:t>readAll原始请求
→ 查找 "\r\n\r\n"
→ 分隔线之后是body
HTTP/1.1 200 OK
Content-Type + Content-Length
空行 + body +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607040" cy="82296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77C27"/>
                </a:solidFill>
                <a:latin typeface="Microsoft YaHei"/>
              </a:rPr>
              <a:t>客户端finished读取QNetworkReply；服务端回复后Connection: close。当前HTTP实现未完整处理分片、Content-Length聚合、chunked等复杂情况。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十五、WebSocket数据格式、握手与消息解析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4688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10512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HTTP Upgrade请求
→ 101 Switching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4688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904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客户端发送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10512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connected
→ sendTextMessage(text)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4688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4904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服务端接收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810512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textMessageReceived(message)
→ sigDataReceived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17320"/>
            <a:ext cx="24688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4904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服务端回复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10512"/>
            <a:ext cx="2286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sendTextMessage(reply)
→ 客户端textMessageReceived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0607040" cy="1143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2A37"/>
                </a:solidFill>
                <a:latin typeface="Microsoft YaHei"/>
              </a:rPr>
              <a:t>Qt QWebSocket负责WebSocket帧的封装、掩码、握手和解析，业务代码直接处理QString消息。WSSendServer在连接建立前保存pendingData；WSRecvServer保存最后发送socket用于回复。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十六、Modbus TCP报文格式：MBAP + PDU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solidFill>
            <a:srgbClr val="EBF5FC"/>
          </a:solidFill>
          <a:ln>
            <a:solidFill>
              <a:srgbClr val="EBF5F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4B78"/>
                </a:solidFill>
                <a:latin typeface="Microsoft YaHei"/>
              </a:rPr>
              <a:t>MBAP：Transaction ID(2) + Protocol ID(2) + Length(2) + Unit ID(1)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02920"/>
          </a:xfrm>
          <a:prstGeom prst="rect">
            <a:avLst/>
          </a:prstGeom>
          <a:solidFill>
            <a:srgbClr val="ECF8F3"/>
          </a:solidFill>
          <a:ln>
            <a:solidFill>
              <a:srgbClr val="ECF8F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8F6F"/>
                </a:solidFill>
                <a:latin typeface="Microsoft YaHei"/>
              </a:rPr>
              <a:t>PDU：Function Code(1) + Function Data(N)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33832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90779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0x03读取PDU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22783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03 + 起始地址(2) + 数量(2)
响应：03 + 字节数 + 每寄存器2字节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34640"/>
            <a:ext cx="33832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90779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0x10写入PDU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22783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10 + 地址(2) + 数量(2) + 字节数(1) + 数据
响应：10 + 地址(2) + 数量(2)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834640"/>
            <a:ext cx="3383280" cy="141732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0779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字节转换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27832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quint16→大端2字节
readU16反向恢复
Length=Unit ID+PDU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7C27"/>
                </a:solidFill>
                <a:latin typeface="Microsoft YaHei"/>
              </a:rPr>
              <a:t>Modbus TCP的“格式严格”是它区别于普通TCP文本通信的核心。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十七、Modbus客户端发送与服务端解析顺序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5331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客户端界面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73351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读取/写入、地址、数量/值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8016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238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5331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9BE"/>
                </a:solidFill>
                <a:latin typeface="Microsoft YaHei"/>
              </a:rPr>
              <a:t>buildRequest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73351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生成PDU + MBAP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6C5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5331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2AE"/>
                </a:solidFill>
                <a:latin typeface="Microsoft YaHei"/>
              </a:rPr>
              <a:t>TCP发送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73351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QTcpSocket::write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8016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24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5331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F6F"/>
                </a:solidFill>
                <a:latin typeface="Microsoft YaHei"/>
              </a:rPr>
              <a:t>slotReadData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73351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缓存、Length切帧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92608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processRequest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19272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按0x03/0x10读写寄存器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3246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92608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99923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4B78"/>
                </a:solidFill>
                <a:latin typeface="Microsoft YaHei"/>
              </a:rPr>
              <a:t>socket-&gt;write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319272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返回响应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3246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89BE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926080"/>
            <a:ext cx="242316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77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999232"/>
            <a:ext cx="2240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7C27"/>
                </a:solidFill>
                <a:latin typeface="Microsoft YaHei"/>
              </a:rPr>
              <a:t>slotReadReply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19272"/>
            <a:ext cx="22402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E2A37"/>
                </a:solidFill>
                <a:latin typeface="Microsoft YaHei"/>
              </a:rPr>
              <a:t>缓存切帧、formatResponse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4B78"/>
                </a:solidFill>
                <a:latin typeface="Microsoft YaHei"/>
              </a:rPr>
              <a:t>服务端执行寄存器业务，客户端执行请求构造与响应解析；二者通过TCP上的Modbus报文协作。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4B78"/>
                </a:solidFill>
                <a:latin typeface="Microsoft YaHei"/>
              </a:rPr>
              <a:t>十八、五种协议的错误和生命周期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84B78"/>
                </a:solidFill>
                <a:latin typeface="Microsoft YaHei"/>
              </a:rPr>
              <a:t>UDP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051560"/>
            <a:ext cx="27432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84B78"/>
                </a:solidFill>
                <a:latin typeface="Microsoft YaHei"/>
              </a:rPr>
              <a:t>可能丢包、乱序、重复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51560"/>
            <a:ext cx="34290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84B78"/>
                </a:solidFill>
                <a:latin typeface="Microsoft YaHei"/>
              </a:rPr>
              <a:t>保存来源；业务层决定重试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39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39"/>
            <a:ext cx="27432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连接失败、断开、粘包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39"/>
            <a:ext cx="34290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错误信号/缓存/重连；应用层定义边界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31720"/>
            <a:ext cx="27432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请求失败、状态码、body不完整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4290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finished统一处理；服务端响应后关闭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71800"/>
            <a:ext cx="27432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握手失败、断线、消息错误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34290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error/disconnected；pendingData处理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11880"/>
            <a:ext cx="105156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Modbus TCP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11880"/>
            <a:ext cx="27432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非法功能码/地址/值、帧不完整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11880"/>
            <a:ext cx="3429000" cy="41148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A37"/>
                </a:solidFill>
                <a:latin typeface="Microsoft YaHei"/>
              </a:rPr>
              <a:t>异常响应；Length切帧；超时与重连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77C27"/>
                </a:solidFill>
                <a:latin typeface="Microsoft YaHei"/>
              </a:rPr>
              <a:t>当前代码是通信测试工具；真实工业应用还需心跳、重连、日志、会话、权限和硬件驱动。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C7A"/>
                </a:solidFill>
                <a:latin typeface="Microsoft YaHei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4B78"/>
                </a:solidFill>
              </a:rPr>
              <a:t>统一应用层报文规则：客户端与服务端独立实现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32D37"/>
                </a:solidFill>
              </a:rPr>
              <a:t>客户端 DataSendServer 和服务端 DataReceiveServer 不共享源码文件；两个项目各自包含 ProtocolFrameCodec.h/.cpp。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</a:rPr>
              <a:t>两边必须保持一致的规则：
1. 帧头：AA 55（用于定位帧起始）
2. 版本：1字节
3. 数据长度：4字节，大端序，表示有效载荷长度
4. 有效载荷：UTF-8业务数据
5. CRC16：2字节，大端序，校验有效载荷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E5F19"/>
                </a:solidFill>
              </a:rPr>
              <a:t>物理实现独立，协议规则一致；因此两个项目可独立编译、部署和升级。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4B78"/>
                </a:solidFill>
              </a:rPr>
              <a:t>报文生成：发送端 encode() 执行顺序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</a:rPr>
              <a:t>业务字符串
    ↓ QString::toUtf8()
QByteArray payload
    ↓ crc16(payload)
计算CRC16校验码
    ↓ 按大端序写入字段
AA 55 | Version | Length(4) | Payload | CRC16(2)
    ↓
UDP：writeDatagram / TCP：write / HTTP：POST body / WebSocket：发送编码后的帧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E5F19"/>
                </a:solidFill>
              </a:rPr>
              <a:t>长度字段只统计Payload，不包含帧头、版本、长度字段本身和CRC。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4B78"/>
                </a:solidFill>
              </a:rPr>
              <a:t>报文解析：接收端 decodeOne() 执行顺序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</a:rPr>
              <a:t>1. 数据追加到缓存（TCP必须缓存，UDP/HTTP/WebSocket也先获得完整消息）
2. 查找 AA 55；无帧头则丢弃无效前缀
3. 缓存不足7字节：等待下一次接收
4. 读取4字节Length，计算完整帧长度 = 7 + Length + 2
5. 数据不足完整帧：继续等待，解决TCP拆包
6. 取出Payload和收到的CRC16
7. 重新计算CRC16并比较
8. 校验成功：UTF-8还原业务数据；校验失败：丢弃该帧并记录错误
9. 缓存中还有数据：继续提取下一帧，解决TCP粘包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7878"/>
                </a:solidFill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